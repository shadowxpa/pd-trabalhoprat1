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88" r:id="rId3"/>
    <p:sldId id="287" r:id="rId4"/>
    <p:sldId id="257" r:id="rId5"/>
    <p:sldId id="258" r:id="rId6"/>
    <p:sldId id="267" r:id="rId7"/>
    <p:sldId id="260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7" r:id="rId17"/>
    <p:sldId id="278" r:id="rId18"/>
    <p:sldId id="279" r:id="rId19"/>
    <p:sldId id="282" r:id="rId20"/>
    <p:sldId id="280" r:id="rId21"/>
    <p:sldId id="285" r:id="rId22"/>
    <p:sldId id="284" r:id="rId23"/>
    <p:sldId id="261" r:id="rId24"/>
    <p:sldId id="262" r:id="rId25"/>
    <p:sldId id="264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20" autoAdjust="0"/>
    <p:restoredTop sz="94660"/>
  </p:normalViewPr>
  <p:slideViewPr>
    <p:cSldViewPr snapToGrid="0">
      <p:cViewPr>
        <p:scale>
          <a:sx n="100" d="100"/>
          <a:sy n="100" d="100"/>
        </p:scale>
        <p:origin x="1026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93105" y="802298"/>
            <a:ext cx="8561747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93106" y="3531204"/>
            <a:ext cx="8561746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11/12/2020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93105" y="329307"/>
            <a:ext cx="4897310" cy="309201"/>
          </a:xfrm>
        </p:spPr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  <p:cxnSp>
        <p:nvCxnSpPr>
          <p:cNvPr id="8" name="Straight Connector 7"/>
          <p:cNvCxnSpPr/>
          <p:nvPr/>
        </p:nvCxnSpPr>
        <p:spPr>
          <a:xfrm>
            <a:off x="2334637" y="798973"/>
            <a:ext cx="0" cy="2544756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2871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11/12/2020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  <p:cxnSp>
        <p:nvCxnSpPr>
          <p:cNvPr id="8" name="Straight Connector 7"/>
          <p:cNvCxnSpPr/>
          <p:nvPr/>
        </p:nvCxnSpPr>
        <p:spPr>
          <a:xfrm>
            <a:off x="1371687" y="798973"/>
            <a:ext cx="0" cy="1067168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4751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813" y="1756130"/>
            <a:ext cx="8562580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34695" y="3806195"/>
            <a:ext cx="8549990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11/12/2020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  <p:cxnSp>
        <p:nvCxnSpPr>
          <p:cNvPr id="8" name="Straight Connector 7"/>
          <p:cNvCxnSpPr/>
          <p:nvPr/>
        </p:nvCxnSpPr>
        <p:spPr>
          <a:xfrm>
            <a:off x="1371687" y="798973"/>
            <a:ext cx="0" cy="2845107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2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695" y="804889"/>
            <a:ext cx="9520157" cy="1059305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34695" y="2010878"/>
            <a:ext cx="4608576" cy="3438144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54793" y="2017343"/>
            <a:ext cx="4604130" cy="344152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11/12/2020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  <p:cxnSp>
        <p:nvCxnSpPr>
          <p:cNvPr id="9" name="Straight Connector 8"/>
          <p:cNvCxnSpPr/>
          <p:nvPr/>
        </p:nvCxnSpPr>
        <p:spPr>
          <a:xfrm>
            <a:off x="1371687" y="798973"/>
            <a:ext cx="0" cy="1067168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6163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695" y="804163"/>
            <a:ext cx="9520157" cy="1056319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34695" y="2019549"/>
            <a:ext cx="460857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4695" y="2824269"/>
            <a:ext cx="4608576" cy="2644457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4791" y="2023003"/>
            <a:ext cx="4608576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4792" y="2821491"/>
            <a:ext cx="4608576" cy="2637371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11/12/2020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  <p:cxnSp>
        <p:nvCxnSpPr>
          <p:cNvPr id="11" name="Straight Connector 10"/>
          <p:cNvCxnSpPr/>
          <p:nvPr/>
        </p:nvCxnSpPr>
        <p:spPr>
          <a:xfrm>
            <a:off x="1371687" y="798973"/>
            <a:ext cx="0" cy="1067168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0273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11/12/2020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  <p:cxnSp>
        <p:nvCxnSpPr>
          <p:cNvPr id="7" name="Straight Connector 6"/>
          <p:cNvCxnSpPr/>
          <p:nvPr/>
        </p:nvCxnSpPr>
        <p:spPr>
          <a:xfrm>
            <a:off x="1371687" y="798973"/>
            <a:ext cx="0" cy="1067168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822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11/12/2020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59837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642" y="798973"/>
            <a:ext cx="3183128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34695" y="3205491"/>
            <a:ext cx="3184989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11/12/2020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  <p:cxnSp>
        <p:nvCxnSpPr>
          <p:cNvPr id="9" name="Straight Connector 8"/>
          <p:cNvCxnSpPr/>
          <p:nvPr/>
        </p:nvCxnSpPr>
        <p:spPr>
          <a:xfrm>
            <a:off x="1371687" y="798973"/>
            <a:ext cx="0" cy="2247117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5563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chemeClr val="bg2">
                    <a:lumMod val="10000"/>
                  </a:schemeClr>
                </a:gs>
                <a:gs pos="100000">
                  <a:schemeClr val="bg2">
                    <a:lumMod val="10000"/>
                  </a:schemeClr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 prstMaterial="matte">
              <a:bevelT w="133350" h="50800" prst="divo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5694" y="1129513"/>
            <a:ext cx="5447840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34695" y="3145992"/>
            <a:ext cx="5440037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534695" y="5469856"/>
            <a:ext cx="5440038" cy="320123"/>
          </a:xfrm>
        </p:spPr>
        <p:txBody>
          <a:bodyPr/>
          <a:lstStyle>
            <a:lvl1pPr algn="l">
              <a:defRPr/>
            </a:lvl1pPr>
          </a:lstStyle>
          <a:p>
            <a:fld id="{4013E98B-3435-411E-BF74-56304C5712BA}" type="datetimeFigureOut">
              <a:rPr lang="pt-PT" smtClean="0"/>
              <a:t>11/12/2020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534910" y="318640"/>
            <a:ext cx="5453475" cy="320931"/>
          </a:xfrm>
        </p:spPr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71687" y="798973"/>
            <a:ext cx="0" cy="2161124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31592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11/12/2020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  <p:cxnSp>
        <p:nvCxnSpPr>
          <p:cNvPr id="8" name="Straight Connector 7"/>
          <p:cNvCxnSpPr/>
          <p:nvPr/>
        </p:nvCxnSpPr>
        <p:spPr>
          <a:xfrm>
            <a:off x="1371687" y="798973"/>
            <a:ext cx="0" cy="1067168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6239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883863"/>
            <a:ext cx="1615742" cy="45749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34694" y="883863"/>
            <a:ext cx="7738807" cy="4574999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3E98B-3435-411E-BF74-56304C5712BA}" type="datetimeFigureOut">
              <a:rPr lang="pt-PT" smtClean="0"/>
              <a:t>11/12/2020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9439111" y="719272"/>
            <a:ext cx="1615742" cy="0"/>
          </a:xfrm>
          <a:prstGeom prst="line">
            <a:avLst/>
          </a:prstGeom>
          <a:ln w="38100" cmpd="sng">
            <a:solidFill>
              <a:schemeClr val="accent1"/>
            </a:solidFill>
            <a:prstDash val="solid"/>
            <a:tailEnd type="non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5853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2015732"/>
            <a:ext cx="12192000" cy="4118829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/>
          <a:srcRect t="2769" b="-2769"/>
          <a:stretch/>
        </p:blipFill>
        <p:spPr>
          <a:xfrm>
            <a:off x="0" y="6135624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34696" y="804519"/>
            <a:ext cx="9520158" cy="104923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34696" y="2015732"/>
            <a:ext cx="9520158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13E98B-3435-411E-BF74-56304C5712BA}" type="datetimeFigureOut">
              <a:rPr lang="pt-PT" smtClean="0"/>
              <a:t>11/12/2020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34695" y="329307"/>
            <a:ext cx="5855719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AC8A20C6-7604-4FF9-8676-1997B649D241}" type="slidenum">
              <a:rPr lang="pt-PT" smtClean="0"/>
              <a:t>‹nº›</a:t>
            </a:fld>
            <a:endParaRPr lang="pt-PT"/>
          </a:p>
        </p:txBody>
      </p:sp>
      <p:cxnSp>
        <p:nvCxnSpPr>
          <p:cNvPr id="12" name="Straight Connector 11"/>
          <p:cNvCxnSpPr/>
          <p:nvPr/>
        </p:nvCxnSpPr>
        <p:spPr>
          <a:xfrm>
            <a:off x="0" y="6141705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96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none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D9F0C6-63B5-4770-AF46-A8E7E6287D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PT" dirty="0"/>
              <a:t>Programação distribuída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FB85CE0-D16B-4667-A148-8E026B6B47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pt-PT" dirty="0"/>
              <a:t>Trabalho realizado por:</a:t>
            </a:r>
          </a:p>
          <a:p>
            <a:r>
              <a:rPr lang="pt-PT" dirty="0"/>
              <a:t>Leandro Adão Fidalgo, a2017017144</a:t>
            </a:r>
          </a:p>
          <a:p>
            <a:r>
              <a:rPr lang="pt-PT" dirty="0"/>
              <a:t>Pedro dos Santos Alves, a2019112789</a:t>
            </a:r>
          </a:p>
        </p:txBody>
      </p:sp>
    </p:spTree>
    <p:extLst>
      <p:ext uri="{BB962C8B-B14F-4D97-AF65-F5344CB8AC3E}">
        <p14:creationId xmlns:p14="http://schemas.microsoft.com/office/powerpoint/2010/main" val="1004823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AF3021-35D0-4DA5-951F-007FEDA42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Índice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8B1FDAE1-9A7B-4D12-BD52-F89F896E4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pt-PT" sz="1700" dirty="0"/>
              <a:t>Aspetos não especificados no enunciado;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pt-PT" sz="1700" dirty="0"/>
              <a:t>Tratamento de erros;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pt-PT" sz="1700" dirty="0"/>
              <a:t>Consistência entre servidores;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pt-PT" sz="1700" dirty="0"/>
              <a:t>Sincronização de BD e ficheiros;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pt-PT" sz="1700" dirty="0"/>
              <a:t>Receção de vários ficheiros disseminados;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pt-PT" sz="1700" dirty="0"/>
              <a:t>Estrutura das mensagens trocadas;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pt-PT" sz="1700" dirty="0" err="1"/>
              <a:t>Threads</a:t>
            </a:r>
            <a:r>
              <a:rPr lang="pt-PT" sz="1700" dirty="0"/>
              <a:t>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pt-PT" sz="1700" dirty="0"/>
              <a:t>Arquitetura de software;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pt-PT" sz="1700" dirty="0"/>
              <a:t>Redireccionamento de um cliente;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pt-PT" sz="1700" dirty="0"/>
              <a:t>Registo;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86162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36EAF8-772A-4772-85BC-71E884281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Índice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1ED622E-E5D0-4DFE-8988-7BCD1B2FBB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pt-PT" sz="1700" dirty="0"/>
              <a:t>Autenticação;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pt-PT" sz="1700" dirty="0"/>
              <a:t>Canais;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pt-PT" sz="1700" dirty="0"/>
              <a:t>Aderir a um canal ;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pt-PT" sz="1700" dirty="0"/>
              <a:t>Envio e receção de mensagens;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pt-PT" sz="1700" dirty="0"/>
              <a:t>Consultar mensagens;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pt-PT" sz="1700" dirty="0"/>
              <a:t>Gestão de ficheiros com nomes idênticos;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pt-PT" sz="1700" dirty="0"/>
              <a:t>Upload de ficheiros;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pt-PT" sz="1700" dirty="0"/>
              <a:t>Download de ficheiros;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pt-PT" sz="1700" dirty="0"/>
              <a:t>Modelo lógico da base de dados;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pt-PT" sz="1700" dirty="0"/>
              <a:t>Modelo físico da base de dados;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lang="pt-PT" sz="1700" dirty="0"/>
              <a:t>Manual de utilização.</a:t>
            </a:r>
          </a:p>
        </p:txBody>
      </p:sp>
    </p:spTree>
    <p:extLst>
      <p:ext uri="{BB962C8B-B14F-4D97-AF65-F5344CB8AC3E}">
        <p14:creationId xmlns:p14="http://schemas.microsoft.com/office/powerpoint/2010/main" val="4285011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388662-36CC-4392-A956-32E8D4D36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Aspetos não especificados no enunciado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3BC0A49-397A-4478-B8F4-26B045E49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Projeto comum onde as classes são partilhadas entre o servidor e o cliente (biblioteca).</a:t>
            </a:r>
          </a:p>
          <a:p>
            <a:pPr lvl="1"/>
            <a:r>
              <a:rPr lang="pt-PT" dirty="0"/>
              <a:t>Foram criados comandos para auxiliar os pedidos entre cliente-servidor e servidor-servidor.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548474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27C9BF-FB38-4296-86C9-07FD2946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Tratamento de erros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DED65F5-843A-401B-8ED9-35E784B5A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A maioria dos erros do cliente são demonstrados em </a:t>
            </a:r>
            <a:r>
              <a:rPr lang="pt-PT" dirty="0" err="1"/>
              <a:t>dialogs</a:t>
            </a:r>
            <a:r>
              <a:rPr lang="pt-PT" dirty="0"/>
              <a:t>.</a:t>
            </a:r>
          </a:p>
          <a:p>
            <a:r>
              <a:rPr lang="pt-PT" dirty="0"/>
              <a:t>A maioria dos erros do servidor são demonstrados na consola.</a:t>
            </a:r>
          </a:p>
          <a:p>
            <a:r>
              <a:rPr lang="pt-PT" dirty="0"/>
              <a:t>Abaixo está demonstrado a implementação do </a:t>
            </a:r>
            <a:r>
              <a:rPr lang="pt-PT" dirty="0" err="1"/>
              <a:t>failover</a:t>
            </a:r>
            <a:r>
              <a:rPr lang="pt-PT" dirty="0"/>
              <a:t>.</a:t>
            </a:r>
          </a:p>
          <a:p>
            <a:pPr lvl="1"/>
            <a:endParaRPr lang="pt-PT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49916A9-5F8A-4B52-80DC-DDACA1067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3613558"/>
            <a:ext cx="5344271" cy="178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70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9B7FC2-BA82-47C7-8EE5-884F3F51A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Tratamento de erros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3DE07055-2D7B-487A-946A-D315CD9F5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Mecanismo de </a:t>
            </a:r>
            <a:r>
              <a:rPr lang="pt-PT" dirty="0" err="1"/>
              <a:t>heartbeat</a:t>
            </a:r>
            <a:r>
              <a:rPr lang="pt-PT" dirty="0"/>
              <a:t> dos servers (</a:t>
            </a:r>
            <a:r>
              <a:rPr lang="pt-PT" dirty="0" err="1"/>
              <a:t>ping</a:t>
            </a:r>
            <a:r>
              <a:rPr lang="pt-PT" dirty="0"/>
              <a:t>).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A968DE7-D241-4811-A490-7A35F167A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511" y="2401844"/>
            <a:ext cx="3948431" cy="3651637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333CB62-12C9-4D43-AAE5-36552CA94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928" y="2559773"/>
            <a:ext cx="6525536" cy="1181265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CE63C514-DC04-47E4-9FBE-7F9A8C0021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020" y="4004087"/>
            <a:ext cx="5029902" cy="181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7159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73B415-B697-4402-A9AC-39FDCCD6E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Consistência entre servidores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13F184F-28E2-42E5-AB92-C0181C3D0E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t-PT" dirty="0"/>
              <a:t>Todos os pedidos do cliente, com a exceção do download, são transmitidos para os outros servidores através do </a:t>
            </a:r>
            <a:r>
              <a:rPr lang="pt-PT" dirty="0" err="1"/>
              <a:t>multicast</a:t>
            </a:r>
            <a:r>
              <a:rPr lang="pt-PT" dirty="0"/>
              <a:t> as alterações efetuadas para manter as bases de dados atualizadas e consistentes, assim como os ficheiros.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F0E57F3-E266-4631-854F-9EE906CD3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996" y="3399132"/>
            <a:ext cx="5430008" cy="206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998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CDB45D-1E22-4B14-9C43-EA99A5AF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Sincronização de BD e ficheiros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F67126A-6293-4FF1-B0B1-36DCF7994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t-PT" dirty="0"/>
              <a:t>A sincronização de um servidor que arranca e deteta a presença de outro(s) já operacional(ais).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4DAEC74-8573-4DEB-A95D-FB4F7E8B4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546" y="2827090"/>
            <a:ext cx="6058907" cy="3902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397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8D3FF8-2EDD-4891-9355-890648883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Receção de vários ficheiros disseminados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C3F82AE-7819-4E58-BEAA-BC5E459668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t-PT" dirty="0"/>
              <a:t>Capacidade em processar a receção de vários ficheiros disseminados via UDP nos servidores.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67ED0A1-5FBC-487A-8B85-05B25D62A9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696" y="2905510"/>
            <a:ext cx="6335515" cy="165365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B92A627-C6CE-4AB6-8385-66E9CBE3E0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8138" y="4622334"/>
            <a:ext cx="5978328" cy="2061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0816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BB6277-7A10-4BD1-8B5C-634EA0141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Estrutura das mensagens trocadas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DA8360A-A176-4E87-AD9D-7B892C0716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Todos os pedidos entre cliente-servidor e servidor-servidor são efetuados através da classe </a:t>
            </a:r>
            <a:r>
              <a:rPr lang="pt-PT" dirty="0" err="1"/>
              <a:t>Command</a:t>
            </a:r>
            <a:r>
              <a:rPr lang="pt-PT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F483582-B8D3-43D7-91A9-60DC102812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3279" y="2926742"/>
            <a:ext cx="3965441" cy="3126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72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922C70-B376-4F05-A8AB-62A2ACD53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 err="1"/>
              <a:t>Threads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7A7995E-4291-42E6-8E86-B9AC356AB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Recurso a um conjunto apropriado de </a:t>
            </a:r>
            <a:r>
              <a:rPr lang="pt-PT" dirty="0" err="1"/>
              <a:t>threads</a:t>
            </a:r>
            <a:r>
              <a:rPr lang="pt-PT" dirty="0"/>
              <a:t> nos clientes e servidores para suportar diversas tarefas de um modo concorrente e assíncrono.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E4BEC04-1C61-41DA-A90B-63C84DD9C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696" y="3017037"/>
            <a:ext cx="6173061" cy="144800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F823977-FF25-4348-9ACC-A89E26829A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9428" y="2986276"/>
            <a:ext cx="2325426" cy="2325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5130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7EBD12-787A-4961-9125-C51C366BB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Arquitetura de software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59B07DAF-02E9-4817-A666-FD57DD184F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Alguma separação, em termos da arquitetura de software, da lógica da comunicação (e das </a:t>
            </a:r>
            <a:r>
              <a:rPr lang="pt-PT" dirty="0" err="1"/>
              <a:t>queries</a:t>
            </a:r>
            <a:r>
              <a:rPr lang="pt-PT" dirty="0"/>
              <a:t> à BD).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8D8C976-64DC-4C4A-938C-EEB4E27C3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696" y="3438579"/>
            <a:ext cx="2857899" cy="2581635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CD84CEC6-AE03-45C9-B8E5-197929CE1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562" y="2821378"/>
            <a:ext cx="2009872" cy="381604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FF439A22-E4B5-40F4-85CB-BD8D7C6F60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6765" y="2856050"/>
            <a:ext cx="2558089" cy="3746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01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A82F22-739D-4280-9EC1-89AD24BA1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Redireccionamento de um cliente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32FBA83-64FE-46FB-A865-3402892A64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Redireccionamento de um cliente para um servidor com menos clientes ligados.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FC7E58C-6378-4003-B62C-750DE45A7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005" y="2512135"/>
            <a:ext cx="8607990" cy="4201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308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74E1B9-E920-48C0-B17E-DB58ECF1F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Registo</a:t>
            </a:r>
          </a:p>
        </p:txBody>
      </p:sp>
      <p:sp>
        <p:nvSpPr>
          <p:cNvPr id="7" name="Marcador de Posição de Conteúdo 6">
            <a:extLst>
              <a:ext uri="{FF2B5EF4-FFF2-40B4-BE49-F238E27FC236}">
                <a16:creationId xmlns:a16="http://schemas.microsoft.com/office/drawing/2014/main" id="{1479180D-75B7-4B52-A694-967ACB835A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356" y="2015732"/>
            <a:ext cx="4620498" cy="3913464"/>
          </a:xfrm>
        </p:spPr>
        <p:txBody>
          <a:bodyPr/>
          <a:lstStyle/>
          <a:p>
            <a:r>
              <a:rPr lang="pt-PT" dirty="0"/>
              <a:t>Primeiro verifica se o utilizador já existe, de seguida caso este não exista, cria o utilizador tal como demonstrado na figura abaixo. 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51FD64D8-57E7-491B-A757-10366BB8A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696" y="2015732"/>
            <a:ext cx="4726217" cy="391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482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905E8A-AD7F-4283-9313-49DA89930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Autenticação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34017467-9D03-41E8-8FF1-BFAEBB29D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45969" y="1853754"/>
            <a:ext cx="4530545" cy="3450613"/>
          </a:xfrm>
        </p:spPr>
        <p:txBody>
          <a:bodyPr/>
          <a:lstStyle/>
          <a:p>
            <a:r>
              <a:rPr lang="pt-PT" dirty="0"/>
              <a:t>Primeiro verifica se o utilizador já existe, de seguida verifica se a password está correta, finalmente verifica se o utilizador já fez login.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8B919B9D-A3C1-45D5-89C9-A295D4CEE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696" y="1853754"/>
            <a:ext cx="4127873" cy="428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1581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C68434-BB15-4902-8238-65AB7B7DF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Canais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E92F7A9C-1324-4FAE-98E8-B98BC73186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Criação, edição e eliminação de canais, apenas pelos respetivos criadores. Abaixo segue o exemplo da criação de um canal.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F107879-3804-434B-8406-98780F1B7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172" y="2812871"/>
            <a:ext cx="6427656" cy="3240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548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1316F3-8023-4A0C-9990-465B70E0E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Aderir a um canal 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F6E7A603-3564-4E7F-9372-4723C325DA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Primeiro verifica se o utilizador é o criador do canal ou se não existe password ou se já se encontra neste canal, senão verifica se a password introduzida está correta. 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FAD72B5-8366-4B24-BA94-3FD26881A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961" y="2939620"/>
            <a:ext cx="5805893" cy="3113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7337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FFF0D8-D903-4CAF-832C-A86206258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Envio e receção de mensagens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4B6DE7C-1358-4F3F-95F3-0C9A872B5C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Envio e receção de mensagens (individual e canal).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BF8F286-C382-413B-8F79-3B88265A2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697" y="2604277"/>
            <a:ext cx="5078044" cy="3701273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2DFCAA79-0BDF-4C5D-B654-A36C5B445D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335" y="2390775"/>
            <a:ext cx="4473457" cy="438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939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7261E8-C323-41CC-81B5-52DBD8E64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Consultar mensagens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4F60F288-4356-4DD9-A6F7-247125C07B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Consultar todas as mensagens incluindo os ficheiros (canal ou individual).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AEC7422-3A0D-45C3-8F02-2A4F28B79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021" y="2619375"/>
            <a:ext cx="5164754" cy="3234081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95D3A8E3-6BE2-43B6-9B2C-AF674547E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075" y="3079292"/>
            <a:ext cx="4844554" cy="162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0527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BBAE51-4D84-47D2-AC19-7ADAA5164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Gestão de ficheiros com nomes idênticos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2A7EF0AB-D3E5-46F0-8CB1-13B86A0151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Para que cada ficheiro enviado para o servidor possa ter nomes iguais decidimos utilizar um identificador único universal (UUID).</a:t>
            </a:r>
          </a:p>
        </p:txBody>
      </p:sp>
    </p:spTree>
    <p:extLst>
      <p:ext uri="{BB962C8B-B14F-4D97-AF65-F5344CB8AC3E}">
        <p14:creationId xmlns:p14="http://schemas.microsoft.com/office/powerpoint/2010/main" val="13335276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EDDC68-1A4A-4706-9167-ABF25F9E3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Upload de ficheiros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0090F5BC-94C8-48BB-B120-9CB6F75DCA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PT" dirty="0"/>
              <a:t>Upload de ficheiros pelos clientes nos respetivos servidores (individual e grupo).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CD9B8C36-5A2A-4AE8-9FC9-AE5D105620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743" y="2533649"/>
            <a:ext cx="6256514" cy="4071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5446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233FA1-F5F4-4A0C-B85D-696FFB969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Download de ficheiros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AD72DDB5-9689-4609-B652-7A0E965DF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76974" y="2015732"/>
            <a:ext cx="4777879" cy="3450613"/>
          </a:xfrm>
        </p:spPr>
        <p:txBody>
          <a:bodyPr/>
          <a:lstStyle/>
          <a:p>
            <a:r>
              <a:rPr lang="pt-PT" dirty="0"/>
              <a:t>Download de ficheiros pelos clientes (individual ou de um grupo a que pertence).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930DBF8-5843-486D-B724-257F2ED6C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696" y="1853754"/>
            <a:ext cx="4460918" cy="4880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8814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3A07E0-0419-4307-AD87-E9220D507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Modelo lógico da base de dados</a:t>
            </a:r>
          </a:p>
        </p:txBody>
      </p:sp>
      <p:pic>
        <p:nvPicPr>
          <p:cNvPr id="4" name="Marcador de Posição de Conteúdo 3">
            <a:extLst>
              <a:ext uri="{FF2B5EF4-FFF2-40B4-BE49-F238E27FC236}">
                <a16:creationId xmlns:a16="http://schemas.microsoft.com/office/drawing/2014/main" id="{585E7C08-E32A-49CE-B1BF-69CC163C9C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70923" y="2049681"/>
            <a:ext cx="8850153" cy="3881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9085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8E7DB-E685-4054-B250-D7E946B11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Modelo físico da base de dados</a:t>
            </a:r>
          </a:p>
        </p:txBody>
      </p:sp>
      <p:pic>
        <p:nvPicPr>
          <p:cNvPr id="4" name="Marcador de Posição de Conteúdo 3">
            <a:extLst>
              <a:ext uri="{FF2B5EF4-FFF2-40B4-BE49-F238E27FC236}">
                <a16:creationId xmlns:a16="http://schemas.microsoft.com/office/drawing/2014/main" id="{CF7B91FC-FC75-4C01-A182-18F54A82CF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89450" y="2016124"/>
            <a:ext cx="7813099" cy="3928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880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97BAEA-35F5-4BDF-B2F5-E92FCF1BD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Manual de utilizador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B64A6539-4485-4534-9F15-86BED41F8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4009965058"/>
      </p:ext>
    </p:extLst>
  </p:cSld>
  <p:clrMapOvr>
    <a:masterClrMapping/>
  </p:clrMapOvr>
</p:sld>
</file>

<file path=ppt/theme/theme1.xml><?xml version="1.0" encoding="utf-8"?>
<a:theme xmlns:a="http://schemas.openxmlformats.org/drawingml/2006/main" name="Galeria">
  <a:themeElements>
    <a:clrScheme name="Galeria">
      <a:dk1>
        <a:sysClr val="windowText" lastClr="000000"/>
      </a:dk1>
      <a:lt1>
        <a:sysClr val="window" lastClr="FFFFFF"/>
      </a:lt1>
      <a:dk2>
        <a:srgbClr val="454545"/>
      </a:dk2>
      <a:lt2>
        <a:srgbClr val="EDEBE7"/>
      </a:lt2>
      <a:accent1>
        <a:srgbClr val="5FA534"/>
      </a:accent1>
      <a:accent2>
        <a:srgbClr val="DCAB34"/>
      </a:accent2>
      <a:accent3>
        <a:srgbClr val="D26D23"/>
      </a:accent3>
      <a:accent4>
        <a:srgbClr val="972323"/>
      </a:accent4>
      <a:accent5>
        <a:srgbClr val="236797"/>
      </a:accent5>
      <a:accent6>
        <a:srgbClr val="2FB6C6"/>
      </a:accent6>
      <a:hlink>
        <a:srgbClr val="8FC639"/>
      </a:hlink>
      <a:folHlink>
        <a:srgbClr val="E7C272"/>
      </a:folHlink>
    </a:clrScheme>
    <a:fontScheme name="Galeria">
      <a:majorFont>
        <a:latin typeface="Palatino Linotype" panose="020405020505050303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eria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AC464412-510E-4F2B-8947-A0DDBD02899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282</TotalTime>
  <Words>577</Words>
  <Application>Microsoft Office PowerPoint</Application>
  <PresentationFormat>Ecrã Panorâmico</PresentationFormat>
  <Paragraphs>71</Paragraphs>
  <Slides>25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25</vt:i4>
      </vt:variant>
    </vt:vector>
  </HeadingPairs>
  <TitlesOfParts>
    <vt:vector size="28" baseType="lpstr">
      <vt:lpstr>Arial</vt:lpstr>
      <vt:lpstr>Palatino Linotype</vt:lpstr>
      <vt:lpstr>Galeria</vt:lpstr>
      <vt:lpstr>Programação distribuída</vt:lpstr>
      <vt:lpstr>Índice</vt:lpstr>
      <vt:lpstr>Índice</vt:lpstr>
      <vt:lpstr>Aspetos não especificados no enunciado</vt:lpstr>
      <vt:lpstr>Tratamento de erros</vt:lpstr>
      <vt:lpstr>Tratamento de erros</vt:lpstr>
      <vt:lpstr>Consistência entre servidores</vt:lpstr>
      <vt:lpstr>Sincronização de BD e ficheiros</vt:lpstr>
      <vt:lpstr>Receção de vários ficheiros disseminados</vt:lpstr>
      <vt:lpstr>Estrutura das mensagens trocadas</vt:lpstr>
      <vt:lpstr>Threads</vt:lpstr>
      <vt:lpstr>Arquitetura de software</vt:lpstr>
      <vt:lpstr>Redireccionamento de um cliente</vt:lpstr>
      <vt:lpstr>Registo</vt:lpstr>
      <vt:lpstr>Autenticação</vt:lpstr>
      <vt:lpstr>Canais</vt:lpstr>
      <vt:lpstr>Aderir a um canal </vt:lpstr>
      <vt:lpstr>Envio e receção de mensagens</vt:lpstr>
      <vt:lpstr>Consultar mensagens</vt:lpstr>
      <vt:lpstr>Gestão de ficheiros com nomes idênticos</vt:lpstr>
      <vt:lpstr>Upload de ficheiros</vt:lpstr>
      <vt:lpstr>Download de ficheiros</vt:lpstr>
      <vt:lpstr>Modelo lógico da base de dados</vt:lpstr>
      <vt:lpstr>Modelo físico da base de dados</vt:lpstr>
      <vt:lpstr>Manual de utilizador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Leandro Adão Fidalgo</dc:creator>
  <cp:lastModifiedBy>Leandro Adão Fidalgo</cp:lastModifiedBy>
  <cp:revision>27</cp:revision>
  <dcterms:created xsi:type="dcterms:W3CDTF">2020-12-06T19:14:18Z</dcterms:created>
  <dcterms:modified xsi:type="dcterms:W3CDTF">2020-12-11T20:27:09Z</dcterms:modified>
</cp:coreProperties>
</file>