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8" r:id="rId4"/>
    <p:sldId id="287" r:id="rId5"/>
    <p:sldId id="257" r:id="rId6"/>
    <p:sldId id="258" r:id="rId7"/>
    <p:sldId id="267" r:id="rId8"/>
    <p:sldId id="260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2" r:id="rId21"/>
    <p:sldId id="280" r:id="rId22"/>
    <p:sldId id="285" r:id="rId23"/>
    <p:sldId id="284" r:id="rId24"/>
    <p:sldId id="261" r:id="rId25"/>
    <p:sldId id="262" r:id="rId26"/>
    <p:sldId id="313" r:id="rId27"/>
    <p:sldId id="264" r:id="rId28"/>
    <p:sldId id="312" r:id="rId29"/>
    <p:sldId id="31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>
        <p:scale>
          <a:sx n="100" d="100"/>
          <a:sy n="100" d="100"/>
        </p:scale>
        <p:origin x="102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  <a:endParaRPr lang="pt-PT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/>
          <a:srcRect t="2769" b="-2769"/>
          <a:stretch>
            <a:fillRect/>
          </a:stretch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  <a:endParaRPr lang="pt-PT"/>
          </a:p>
          <a:p>
            <a:pPr lvl="1"/>
            <a:r>
              <a:rPr lang="pt-PT"/>
              <a:t>Segundo nível</a:t>
            </a:r>
            <a:endParaRPr lang="pt-PT"/>
          </a:p>
          <a:p>
            <a:pPr lvl="2"/>
            <a:r>
              <a:rPr lang="pt-PT"/>
              <a:t>Terceiro nível</a:t>
            </a:r>
            <a:endParaRPr lang="pt-PT"/>
          </a:p>
          <a:p>
            <a:pPr lvl="3"/>
            <a:r>
              <a:rPr lang="pt-PT"/>
              <a:t>Quarto nível</a:t>
            </a:r>
            <a:endParaRPr lang="pt-PT"/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3E98B-3435-411E-BF74-56304C5712BA}" type="datetimeFigureOut">
              <a:rPr lang="pt-PT" smtClean="0"/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C8A20C6-7604-4FF9-8676-1997B649D241}" type="slidenum">
              <a:rPr lang="pt-PT" smtClean="0"/>
            </a:fld>
            <a:endParaRPr lang="pt-PT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Programação distribuída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PT" dirty="0"/>
              <a:t>Trabalho realizado por:</a:t>
            </a:r>
            <a:endParaRPr lang="pt-PT" dirty="0"/>
          </a:p>
          <a:p>
            <a:r>
              <a:rPr lang="pt-PT" dirty="0"/>
              <a:t>Leandro Adão Fidalgo, a2017017144</a:t>
            </a:r>
            <a:endParaRPr lang="pt-PT" dirty="0"/>
          </a:p>
          <a:p>
            <a:r>
              <a:rPr lang="pt-PT" dirty="0"/>
              <a:t>Pedro dos Santos Alves, a2019112789</a:t>
            </a:r>
            <a:endParaRPr lang="pt-P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Índice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Aspetos não especificados no enunciado;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Tratamento de erros;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Consistência entre servidores;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Sincronização de BD e ficheiros;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Receção de vários ficheiros disseminados;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Estrutura das mensagens trocadas;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 err="1"/>
              <a:t>Threads</a:t>
            </a:r>
            <a:r>
              <a:rPr lang="pt-PT" sz="1700" dirty="0"/>
              <a:t>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Arquitetura de software;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Redireccionamento de um cliente;</a:t>
            </a:r>
            <a:endParaRPr lang="pt-PT" sz="17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PT" sz="1700" dirty="0"/>
              <a:t>Registo;</a:t>
            </a:r>
            <a:endParaRPr lang="pt-PT" sz="1700" dirty="0"/>
          </a:p>
          <a:p>
            <a:endParaRPr lang="pt-P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Índice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Autenticação;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Canais;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Aderir a um canal 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Envio e receção de mensagens;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Consultar mensagens;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Gestão de ficheiros com nomes idênticos;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Upload de ficheiros;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Download de ficheiros;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Modelo lógico da base de dados;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Modelo físico da base de dados;</a:t>
            </a:r>
            <a:endParaRPr lang="pt-PT" sz="17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PT" sz="1700" dirty="0"/>
              <a:t>Manual de utilização.</a:t>
            </a:r>
            <a:endParaRPr lang="pt-PT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Aspetos não especificados no enunciado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Projeto comum onde as classes são partilhadas entre o servidor e o cliente (biblioteca).</a:t>
            </a:r>
            <a:endParaRPr lang="pt-PT" dirty="0"/>
          </a:p>
          <a:p>
            <a:pPr lvl="1"/>
            <a:r>
              <a:rPr lang="pt-PT" dirty="0"/>
              <a:t>Foram criados comandos para auxiliar os pedidos entre cliente-servidor e servidor-servidor.</a:t>
            </a:r>
            <a:endParaRPr lang="pt-PT" dirty="0"/>
          </a:p>
          <a:p>
            <a:endParaRPr lang="pt-P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Tratamento de erros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maioria dos erros do cliente são demonstrados em </a:t>
            </a:r>
            <a:r>
              <a:rPr lang="pt-PT" dirty="0" err="1"/>
              <a:t>dialogs</a:t>
            </a:r>
            <a:r>
              <a:rPr lang="pt-PT" dirty="0"/>
              <a:t>.</a:t>
            </a:r>
            <a:endParaRPr lang="pt-PT" dirty="0"/>
          </a:p>
          <a:p>
            <a:r>
              <a:rPr lang="pt-PT" dirty="0"/>
              <a:t>A maioria dos erros do servidor são demonstrados na consola.</a:t>
            </a:r>
            <a:endParaRPr lang="pt-PT" dirty="0"/>
          </a:p>
          <a:p>
            <a:r>
              <a:rPr lang="pt-PT" dirty="0"/>
              <a:t>Abaixo está demonstrado a implementação do </a:t>
            </a:r>
            <a:r>
              <a:rPr lang="pt-PT" dirty="0" err="1"/>
              <a:t>failover</a:t>
            </a:r>
            <a:r>
              <a:rPr lang="pt-PT" dirty="0"/>
              <a:t>.</a:t>
            </a:r>
            <a:endParaRPr lang="pt-PT" dirty="0"/>
          </a:p>
          <a:p>
            <a:pPr lvl="1"/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3864" y="3613558"/>
            <a:ext cx="5344271" cy="1781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Tratamento de erros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Mecanismo de </a:t>
            </a:r>
            <a:r>
              <a:rPr lang="pt-PT" dirty="0" err="1"/>
              <a:t>heartbeat</a:t>
            </a:r>
            <a:r>
              <a:rPr lang="pt-PT" dirty="0"/>
              <a:t> dos servers (</a:t>
            </a:r>
            <a:r>
              <a:rPr lang="pt-PT" dirty="0" err="1"/>
              <a:t>ping</a:t>
            </a:r>
            <a:r>
              <a:rPr lang="pt-PT" dirty="0"/>
              <a:t>).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11" y="2401844"/>
            <a:ext cx="3948431" cy="365163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928" y="2559773"/>
            <a:ext cx="6525536" cy="118126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020" y="4004087"/>
            <a:ext cx="5029902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Consistência entre servidores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Todos os pedidos do cliente, com a exceção do download, são transmitidos para os outros servidores através do </a:t>
            </a:r>
            <a:r>
              <a:rPr lang="pt-PT" dirty="0" err="1"/>
              <a:t>multicast</a:t>
            </a:r>
            <a:r>
              <a:rPr lang="pt-PT" dirty="0"/>
              <a:t> as alterações efetuadas para manter as bases de dados atualizadas e consistentes, assim como os ficheiros.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996" y="3399132"/>
            <a:ext cx="5430008" cy="2067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Sincronização de BD e ficheiros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A sincronização de um servidor que arranca e deteta a presença de outro(s) já operacional(ais).</a:t>
            </a:r>
            <a:endParaRPr lang="pt-PT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6546" y="2827090"/>
            <a:ext cx="6058907" cy="3902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Receção de vários ficheiros disseminados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Capacidade em processar a receção de vários ficheiros disseminados via UDP nos servidores.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2905510"/>
            <a:ext cx="6335515" cy="165365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138" y="4622334"/>
            <a:ext cx="5978328" cy="20612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Estrutura das mensagens trocadas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Todos os pedidos entre cliente-servidor e servidor-servidor são efetuados através da classe </a:t>
            </a:r>
            <a:r>
              <a:rPr lang="pt-PT" dirty="0" err="1"/>
              <a:t>Command</a:t>
            </a:r>
            <a:r>
              <a:rPr lang="pt-PT" dirty="0"/>
              <a:t>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279" y="2926742"/>
            <a:ext cx="3965441" cy="3126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Threads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Recurso a um conjunto apropriado de </a:t>
            </a:r>
            <a:r>
              <a:rPr lang="pt-PT" dirty="0" err="1"/>
              <a:t>threads</a:t>
            </a:r>
            <a:r>
              <a:rPr lang="pt-PT" dirty="0"/>
              <a:t> nos clientes e servidores para suportar diversas tarefas de um modo concorrente e assíncrono.</a:t>
            </a:r>
            <a:endParaRPr lang="pt-PT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3017037"/>
            <a:ext cx="6173061" cy="14480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428" y="2986276"/>
            <a:ext cx="2325426" cy="2325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software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Alguma separação, em termos da arquitetura de software, da lógica da comunicação (e das </a:t>
            </a:r>
            <a:r>
              <a:rPr lang="pt-PT" dirty="0" err="1"/>
              <a:t>queries</a:t>
            </a:r>
            <a:r>
              <a:rPr lang="pt-PT" dirty="0"/>
              <a:t> à BD).</a:t>
            </a:r>
            <a:endParaRPr lang="pt-PT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3438579"/>
            <a:ext cx="2857899" cy="258163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562" y="2821378"/>
            <a:ext cx="2009872" cy="3816041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765" y="2856050"/>
            <a:ext cx="2558089" cy="3746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Redireccionamento de um cliente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Redireccionamento de um cliente para um servidor com menos clientes ligados.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005" y="2512135"/>
            <a:ext cx="8607990" cy="4201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Registo</a:t>
            </a:r>
            <a:endParaRPr lang="pt-PT" dirty="0"/>
          </a:p>
        </p:txBody>
      </p:sp>
      <p:sp>
        <p:nvSpPr>
          <p:cNvPr id="7" name="Marcador de Posição de Conteúdo 6"/>
          <p:cNvSpPr>
            <a:spLocks noGrp="1"/>
          </p:cNvSpPr>
          <p:nvPr>
            <p:ph idx="1"/>
          </p:nvPr>
        </p:nvSpPr>
        <p:spPr>
          <a:xfrm>
            <a:off x="6434356" y="2015732"/>
            <a:ext cx="4620498" cy="3913464"/>
          </a:xfrm>
        </p:spPr>
        <p:txBody>
          <a:bodyPr/>
          <a:lstStyle/>
          <a:p>
            <a:r>
              <a:rPr lang="pt-PT" dirty="0"/>
              <a:t>Primeiro verifica se o utilizador já existe, de seguida caso este não exista, cria o utilizador tal como demonstrado na figura abaixo. </a:t>
            </a:r>
            <a:endParaRPr lang="pt-PT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2015732"/>
            <a:ext cx="4726217" cy="391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Autenticação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745969" y="1853754"/>
            <a:ext cx="4530545" cy="3450613"/>
          </a:xfrm>
        </p:spPr>
        <p:txBody>
          <a:bodyPr/>
          <a:lstStyle/>
          <a:p>
            <a:r>
              <a:rPr lang="pt-PT" dirty="0"/>
              <a:t>Primeiro verifica se o utilizador já existe, de seguida verifica se a password está correta, finalmente verifica se o utilizador já fez login.</a:t>
            </a:r>
            <a:endParaRPr lang="pt-PT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1853754"/>
            <a:ext cx="4127873" cy="42811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Canais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Criação, edição e eliminação de canais, apenas pelos respetivos criadores. Abaixo segue o exemplo da criação de um canal.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2172" y="2812871"/>
            <a:ext cx="6427656" cy="32406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Aderir a um canal 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Primeiro verifica se o utilizador é o criador do canal ou se não existe password ou se já se encontra neste canal, senão verifica se a password introduzida está correta. 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961" y="2939620"/>
            <a:ext cx="5805893" cy="31138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Envio e receção de mensagens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Envio e receção de mensagens (individual e canal).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7" y="2604277"/>
            <a:ext cx="5078044" cy="370127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335" y="2390775"/>
            <a:ext cx="4473457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Consultar mensagens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Consultar todas as mensagens incluindo os ficheiros (canal ou individual).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021" y="2619375"/>
            <a:ext cx="5164754" cy="323408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3079292"/>
            <a:ext cx="4844554" cy="16261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Gestão de ficheiros com nomes idênticos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Para que cada ficheiro enviado para o servidor possa ter nomes iguais decidimos utilizar um identificador único universal (UUID).</a:t>
            </a:r>
            <a:endParaRPr lang="pt-PT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Upload de ficheiros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Upload de ficheiros pelos clientes nos respetivos servidores (individual e grupo).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743" y="2533649"/>
            <a:ext cx="6256514" cy="40718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Download de ficheiros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6276974" y="2015732"/>
            <a:ext cx="4777879" cy="3450613"/>
          </a:xfrm>
        </p:spPr>
        <p:txBody>
          <a:bodyPr/>
          <a:lstStyle/>
          <a:p>
            <a:r>
              <a:rPr lang="pt-PT" dirty="0"/>
              <a:t>Download de ficheiros pelos clientes (individual ou de um grupo a que pertence).</a:t>
            </a:r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696" y="1853754"/>
            <a:ext cx="4460918" cy="48804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lógico da base de dados</a:t>
            </a:r>
            <a:endParaRPr lang="pt-PT" dirty="0"/>
          </a:p>
        </p:txBody>
      </p:sp>
      <p:pic>
        <p:nvPicPr>
          <p:cNvPr id="4" name="Marcador de Posição de Conteúdo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0923" y="2049681"/>
            <a:ext cx="8850153" cy="38813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físico da base de dados</a:t>
            </a:r>
            <a:endParaRPr lang="pt-PT" dirty="0"/>
          </a:p>
        </p:txBody>
      </p:sp>
      <p:pic>
        <p:nvPicPr>
          <p:cNvPr id="4" name="Marcador de Posição de Conteúdo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9450" y="2016124"/>
            <a:ext cx="7813099" cy="39282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PT" altLang="en-US"/>
              <a:t>Manual de utilizador</a:t>
            </a:r>
            <a:endParaRPr lang="pt-PT" alt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Login</a:t>
            </a:r>
            <a:endParaRPr lang="pt-PT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4795" y="2123440"/>
            <a:ext cx="3630930" cy="34505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534025" y="2123440"/>
            <a:ext cx="62839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pt-PT" altLang="en-US"/>
              <a:t>Caixa de texto do username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introduz o seu username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Caixa de texto da password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introduz a sua password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Botão de login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Após a introdução de ambos, o username e a password, o utilizador poderá efetuar o login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Botão de registo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Se o utilizador não estiver ainda registado, poderá faze-lo através desta opção</a:t>
            </a:r>
            <a:endParaRPr lang="pt-PT" altLang="en-US"/>
          </a:p>
        </p:txBody>
      </p:sp>
      <p:sp>
        <p:nvSpPr>
          <p:cNvPr id="6" name="Oval 5"/>
          <p:cNvSpPr/>
          <p:nvPr/>
        </p:nvSpPr>
        <p:spPr>
          <a:xfrm>
            <a:off x="4166870" y="3576320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1</a:t>
            </a:r>
            <a:endParaRPr lang="pt-PT" altLang="en-US"/>
          </a:p>
        </p:txBody>
      </p:sp>
      <p:sp>
        <p:nvSpPr>
          <p:cNvPr id="7" name="Oval 6"/>
          <p:cNvSpPr/>
          <p:nvPr/>
        </p:nvSpPr>
        <p:spPr>
          <a:xfrm>
            <a:off x="4166870" y="414718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2</a:t>
            </a:r>
            <a:endParaRPr lang="pt-PT" altLang="en-US"/>
          </a:p>
        </p:txBody>
      </p:sp>
      <p:sp>
        <p:nvSpPr>
          <p:cNvPr id="8" name="Oval 7"/>
          <p:cNvSpPr/>
          <p:nvPr/>
        </p:nvSpPr>
        <p:spPr>
          <a:xfrm>
            <a:off x="4166870" y="461327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3</a:t>
            </a:r>
            <a:endParaRPr lang="pt-PT" altLang="en-US"/>
          </a:p>
        </p:txBody>
      </p:sp>
      <p:sp>
        <p:nvSpPr>
          <p:cNvPr id="9" name="Oval 8"/>
          <p:cNvSpPr/>
          <p:nvPr/>
        </p:nvSpPr>
        <p:spPr>
          <a:xfrm>
            <a:off x="4166870" y="5123180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4</a:t>
            </a:r>
            <a:endParaRPr lang="pt-PT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en-US"/>
              <a:t>Registo</a:t>
            </a:r>
            <a:endParaRPr lang="pt-PT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4795" y="1985645"/>
            <a:ext cx="2962275" cy="40290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977130" y="1877060"/>
            <a:ext cx="702373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pt-PT" altLang="en-US"/>
              <a:t>Caixa de texto do nome do utilizador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introduz o seu nome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Caixa de texto do username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introduz o seu username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Caixa de texto da password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introduz a sua password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Caixa de texto da confirmação da password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confirma a sua password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Botão de seleção de fotografia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seleciona uma fotografia (jpg, jpeg ou png)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Botão de registo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Após preencher os campos todos, o utilizador poderá registar-se</a:t>
            </a:r>
            <a:endParaRPr lang="pt-PT" altLang="en-US"/>
          </a:p>
          <a:p>
            <a:pPr marL="342900" indent="-342900">
              <a:buAutoNum type="arabicPeriod"/>
            </a:pPr>
            <a:r>
              <a:rPr lang="pt-PT" altLang="en-US"/>
              <a:t>Botão de cancelar</a:t>
            </a:r>
            <a:endParaRPr lang="pt-PT" alt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altLang="en-US"/>
              <a:t>O utilizador poderá cancelar o seu registo</a:t>
            </a:r>
            <a:endParaRPr lang="pt-PT" altLang="en-US"/>
          </a:p>
        </p:txBody>
      </p:sp>
      <p:sp>
        <p:nvSpPr>
          <p:cNvPr id="7" name="Oval 6"/>
          <p:cNvSpPr/>
          <p:nvPr/>
        </p:nvSpPr>
        <p:spPr>
          <a:xfrm>
            <a:off x="3869690" y="3082290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1</a:t>
            </a:r>
            <a:endParaRPr lang="pt-PT" altLang="en-US"/>
          </a:p>
        </p:txBody>
      </p:sp>
      <p:sp>
        <p:nvSpPr>
          <p:cNvPr id="8" name="Oval 7"/>
          <p:cNvSpPr/>
          <p:nvPr/>
        </p:nvSpPr>
        <p:spPr>
          <a:xfrm>
            <a:off x="3869690" y="3509010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2</a:t>
            </a:r>
            <a:endParaRPr lang="pt-PT" altLang="en-US"/>
          </a:p>
        </p:txBody>
      </p:sp>
      <p:sp>
        <p:nvSpPr>
          <p:cNvPr id="9" name="Oval 8"/>
          <p:cNvSpPr/>
          <p:nvPr/>
        </p:nvSpPr>
        <p:spPr>
          <a:xfrm>
            <a:off x="3869690" y="393509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3</a:t>
            </a:r>
            <a:endParaRPr lang="pt-PT" altLang="en-US"/>
          </a:p>
        </p:txBody>
      </p:sp>
      <p:sp>
        <p:nvSpPr>
          <p:cNvPr id="10" name="Oval 9"/>
          <p:cNvSpPr/>
          <p:nvPr/>
        </p:nvSpPr>
        <p:spPr>
          <a:xfrm>
            <a:off x="3869690" y="436181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4</a:t>
            </a:r>
            <a:endParaRPr lang="pt-PT" altLang="en-US"/>
          </a:p>
        </p:txBody>
      </p:sp>
      <p:sp>
        <p:nvSpPr>
          <p:cNvPr id="11" name="Oval 10"/>
          <p:cNvSpPr/>
          <p:nvPr/>
        </p:nvSpPr>
        <p:spPr>
          <a:xfrm>
            <a:off x="1911985" y="5074920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5</a:t>
            </a:r>
            <a:endParaRPr lang="pt-PT" altLang="en-US"/>
          </a:p>
        </p:txBody>
      </p:sp>
      <p:sp>
        <p:nvSpPr>
          <p:cNvPr id="12" name="Oval 11"/>
          <p:cNvSpPr/>
          <p:nvPr/>
        </p:nvSpPr>
        <p:spPr>
          <a:xfrm>
            <a:off x="3792220" y="542988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6</a:t>
            </a:r>
            <a:endParaRPr lang="pt-PT" altLang="en-US"/>
          </a:p>
        </p:txBody>
      </p:sp>
      <p:sp>
        <p:nvSpPr>
          <p:cNvPr id="13" name="Oval 12"/>
          <p:cNvSpPr/>
          <p:nvPr/>
        </p:nvSpPr>
        <p:spPr>
          <a:xfrm>
            <a:off x="2582545" y="5429885"/>
            <a:ext cx="295910" cy="2959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pt-PT" altLang="en-US"/>
              <a:t>7</a:t>
            </a:r>
            <a:endParaRPr lang="pt-PT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eria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4202</Words>
  <Application>WPS Presentation</Application>
  <PresentationFormat>Ecrã Panorâmico</PresentationFormat>
  <Paragraphs>171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SimSun</vt:lpstr>
      <vt:lpstr>Wingdings</vt:lpstr>
      <vt:lpstr>Palatino Linotype</vt:lpstr>
      <vt:lpstr>Microsoft YaHei</vt:lpstr>
      <vt:lpstr>Arial Unicode MS</vt:lpstr>
      <vt:lpstr>Calibri</vt:lpstr>
      <vt:lpstr>Galeria</vt:lpstr>
      <vt:lpstr>Programação distribuída</vt:lpstr>
      <vt:lpstr>Índice</vt:lpstr>
      <vt:lpstr>Índice</vt:lpstr>
      <vt:lpstr>Aspetos não especificados no enunciado</vt:lpstr>
      <vt:lpstr>Tratamento de erros</vt:lpstr>
      <vt:lpstr>Tratamento de erros</vt:lpstr>
      <vt:lpstr>Consistência entre servidores</vt:lpstr>
      <vt:lpstr>Sincronização de BD e ficheiros</vt:lpstr>
      <vt:lpstr>Receção de vários ficheiros disseminados</vt:lpstr>
      <vt:lpstr>Estrutura das mensagens trocadas</vt:lpstr>
      <vt:lpstr>Threads</vt:lpstr>
      <vt:lpstr>Arquitetura de software</vt:lpstr>
      <vt:lpstr>Redireccionamento de um cliente</vt:lpstr>
      <vt:lpstr>Registo</vt:lpstr>
      <vt:lpstr>Autenticação</vt:lpstr>
      <vt:lpstr>Canais</vt:lpstr>
      <vt:lpstr>Aderir a um canal </vt:lpstr>
      <vt:lpstr>Envio e receção de mensagens</vt:lpstr>
      <vt:lpstr>Consultar mensagens</vt:lpstr>
      <vt:lpstr>Gestão de ficheiros com nomes idênticos</vt:lpstr>
      <vt:lpstr>Upload de ficheiros</vt:lpstr>
      <vt:lpstr>Download de ficheiros</vt:lpstr>
      <vt:lpstr>Modelo lógico da base de dados</vt:lpstr>
      <vt:lpstr>Modelo físico da base de dados</vt:lpstr>
      <vt:lpstr>PowerPoint 演示文稿</vt:lpstr>
      <vt:lpstr>Manual de utilizador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Adão Fidalgo</dc:creator>
  <cp:lastModifiedBy>ShadowXPA</cp:lastModifiedBy>
  <cp:revision>28</cp:revision>
  <dcterms:created xsi:type="dcterms:W3CDTF">2020-12-06T19:14:00Z</dcterms:created>
  <dcterms:modified xsi:type="dcterms:W3CDTF">2020-12-12T20:07:01Z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